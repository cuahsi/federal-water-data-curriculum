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11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4"/>
  </p:sldMasterIdLst>
  <p:notesMasterIdLst>
    <p:notesMasterId r:id="rId18"/>
  </p:notesMasterIdLst>
  <p:sldIdLst>
    <p:sldId id="335" r:id="rId5"/>
    <p:sldId id="336" r:id="rId6"/>
    <p:sldId id="338" r:id="rId7"/>
    <p:sldId id="339" r:id="rId8"/>
    <p:sldId id="340" r:id="rId9"/>
    <p:sldId id="341" r:id="rId10"/>
    <p:sldId id="342" r:id="rId11"/>
    <p:sldId id="343" r:id="rId12"/>
    <p:sldId id="344" r:id="rId13"/>
    <p:sldId id="345" r:id="rId14"/>
    <p:sldId id="346" r:id="rId15"/>
    <p:sldId id="347" r:id="rId16"/>
  </p:sldIdLst>
  <p:sldSz cx="9144000" cy="5143500" type="screen16x9"/>
  <p:notesSz cx="6858000" cy="9144000"/>
  <p:embeddedFontLst>
    <p:embeddedFont>
      <p:font typeface="Consolas" panose="020B0609020204030204" pitchFamily="49" charset="0"/>
      <p:regular r:id="rId19"/>
      <p:bold r:id="rId20"/>
      <p:italic r:id="rId21"/>
      <p:boldItalic r:id="rId22"/>
    </p:embeddedFont>
    <p:embeddedFont>
      <p:font typeface="Lato" panose="020F0502020204030203" pitchFamily="34" charset="0"/>
      <p:regular r:id="rId23"/>
      <p:bold r:id="rId24"/>
      <p:italic r:id="rId25"/>
      <p:boldItalic r:id="rId26"/>
    </p:embeddedFont>
    <p:embeddedFont>
      <p:font typeface="Lato Black" panose="020F0A02020204030203" pitchFamily="34" charset="0"/>
      <p:bold r:id="rId27"/>
      <p:boldItalic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1465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34"/>
    <p:restoredTop sz="91381" autoAdjust="0"/>
  </p:normalViewPr>
  <p:slideViewPr>
    <p:cSldViewPr snapToGrid="0">
      <p:cViewPr varScale="1">
        <p:scale>
          <a:sx n="106" d="100"/>
          <a:sy n="106" d="100"/>
        </p:scale>
        <p:origin x="662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19" Type="http://schemas.openxmlformats.org/officeDocument/2006/relationships/font" Target="fonts/font1.fntdata"/><Relationship Id="rId20" Type="http://schemas.openxmlformats.org/officeDocument/2006/relationships/font" Target="fonts/font2.fntdata"/><Relationship Id="rId21" Type="http://schemas.openxmlformats.org/officeDocument/2006/relationships/font" Target="fonts/font3.fntdata"/><Relationship Id="rId22" Type="http://schemas.openxmlformats.org/officeDocument/2006/relationships/font" Target="fonts/font4.fntdata"/><Relationship Id="rId23" Type="http://schemas.openxmlformats.org/officeDocument/2006/relationships/font" Target="fonts/font5.fntdata"/><Relationship Id="rId24" Type="http://schemas.openxmlformats.org/officeDocument/2006/relationships/font" Target="fonts/font6.fntdata"/><Relationship Id="rId25" Type="http://schemas.openxmlformats.org/officeDocument/2006/relationships/font" Target="fonts/font7.fntdata"/><Relationship Id="rId26" Type="http://schemas.openxmlformats.org/officeDocument/2006/relationships/font" Target="fonts/font8.fntdata"/><Relationship Id="rId27" Type="http://schemas.openxmlformats.org/officeDocument/2006/relationships/font" Target="fonts/font9.fntdata"/><Relationship Id="rId28" Type="http://schemas.openxmlformats.org/officeDocument/2006/relationships/font" Target="fonts/font10.fntdata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TYPE: session-title</a:t>
            </a:r>
          </a:p>
          <a:p>
            <a:r>
              <a:rPr dirty="0"/>
              <a:t>EXAMPLE SLIDE: copy it and replace the content; keep positions, fonts and </a:t>
            </a:r>
            <a:r>
              <a:rPr dirty="0" err="1"/>
              <a:t>colours</a:t>
            </a:r>
            <a:r>
              <a:rPr dirty="0"/>
              <a:t>. Session number and module on the first line, module title on the second. Date top right. Presenter block bottom right.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TYPE: program-schedule</a:t>
            </a:r>
          </a:p>
          <a:p>
            <a:r>
              <a:t>EXAMPLE SLIDE: copy it and replace the content; keep positions, fonts and colours. Past sessions greyed out; today's session gets the green outline and UP NEXT. Move the outline each session; don't redraw the slide.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TYPE: lesson-objectives</a:t>
            </a:r>
          </a:p>
          <a:p>
            <a:r>
              <a:t>EXAMPLE SLIDE: copy it and replace the content; keep positions, fonts and colours. "Learning objectives for today": the session name, then the module's learning objectives copied word for word from its overview page. The only place in the deck the objectives appear.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TYPE: content-text</a:t>
            </a:r>
          </a:p>
          <a:p>
            <a:r>
              <a:t>EXAMPLE SLIDE: copy it and replace the content; keep positions, fonts and colours. Plain title, up to 6 bullets; bold the key phrase in a bullet.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TYPE: content-figure</a:t>
            </a:r>
          </a:p>
          <a:p>
            <a:r>
              <a:t>EXAMPLE SLIDE: copy it and replace the content; keep positions, fonts and colours. Slate header bar with a white title, one figure or screenshot below. Credit line in small grey text at the bottom if the figure is borrowed.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TYPE: content-highlight</a:t>
            </a:r>
          </a:p>
          <a:p>
            <a:r>
              <a:t>EXAMPLE SLIDE: copy it and replace the content; keep positions, fonts and colours. A figure with one outline (no fill) drawing the eye to the part being discussed, plus a short side note. Use this pattern for spotlight builds.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TYPE: statement</a:t>
            </a:r>
          </a:p>
          <a:p>
            <a:r>
              <a:t>EXAMPLE SLIDE: copy it and replace the content; keep positions, fonts and colours. Slate, centred: a heading and one or two sentences (italic for the question or turn).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TYPE: section-divider</a:t>
            </a:r>
          </a:p>
          <a:p>
            <a:r>
              <a:t>EXAMPLE SLIDE: copy it and replace the content; keep positions, fonts and colours. Slate, one large bold title. Opens a lesson or a block of topics.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TYPE: activity</a:t>
            </a:r>
          </a:p>
          <a:p>
            <a:r>
              <a:t>EXAMPLE SLIDE: copy it and replace the content; keep positions, fonts and colours. "Activity N" large and bold, then the task with its time and short steps.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TYPE: live-coding</a:t>
            </a:r>
          </a:p>
          <a:p>
            <a:r>
              <a:rPr dirty="0"/>
              <a:t>EXAMPLE SLIDE: copy it and replace the content; keep positions, fonts and </a:t>
            </a:r>
            <a:r>
              <a:rPr dirty="0" err="1"/>
              <a:t>colours</a:t>
            </a:r>
            <a:r>
              <a:rPr dirty="0"/>
              <a:t>. Like an activity: the notebook file, </a:t>
            </a:r>
            <a:r>
              <a:rPr lang="en-US" dirty="0"/>
              <a:t>and </a:t>
            </a:r>
            <a:r>
              <a:rPr dirty="0"/>
              <a:t>the sections to run. Points to make go in the notes.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TYPE: code</a:t>
            </a:r>
          </a:p>
          <a:p>
            <a:r>
              <a:t>EXAMPLE SLIDE: copy it and replace the content; keep positions, fonts and colours. At most 12 lines, copied from the lesson, in the black block (Courier New, white). One sentence above it saying what the code does.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TYPE: before-after</a:t>
            </a:r>
          </a:p>
          <a:p>
            <a:r>
              <a:t>EXAMPLE SLIDE: copy it and replace the content; keep positions, fonts and colours. The problem in dark red, an arrow, the fix in dark green. Here inside a Key takeaways reveal build: the takeaways stay put, one example is added per slide.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Title and Content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381041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 with Caption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000" cy="12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25700" rIns="51425" bIns="2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3"/>
          <p:cNvSpPr>
            <a:spLocks noGrp="1"/>
          </p:cNvSpPr>
          <p:nvPr>
            <p:ph type="pic" idx="2"/>
          </p:nvPr>
        </p:nvSpPr>
        <p:spPr>
          <a:xfrm>
            <a:off x="3887391" y="740570"/>
            <a:ext cx="4629300" cy="3655200"/>
          </a:xfrm>
          <a:prstGeom prst="rect">
            <a:avLst/>
          </a:prstGeom>
          <a:noFill/>
          <a:ln>
            <a:noFill/>
          </a:ln>
        </p:spPr>
      </p:sp>
      <p:sp>
        <p:nvSpPr>
          <p:cNvPr id="53" name="Google Shape;53;p13"/>
          <p:cNvSpPr txBox="1">
            <a:spLocks noGrp="1"/>
          </p:cNvSpPr>
          <p:nvPr>
            <p:ph type="body" idx="1"/>
          </p:nvPr>
        </p:nvSpPr>
        <p:spPr>
          <a:xfrm>
            <a:off x="629841" y="1543051"/>
            <a:ext cx="2949000" cy="28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25700" rIns="51425" bIns="2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800"/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25700" rIns="51425" bIns="2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800"/>
              <a:buFont typeface="Arial"/>
              <a:buNone/>
              <a:defRPr sz="1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1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1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1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1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1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1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1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1100"/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25700" rIns="51425" bIns="2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800"/>
              <a:buFont typeface="Arial"/>
              <a:buNone/>
              <a:defRPr sz="1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1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1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1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1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1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1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1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1100"/>
            </a:lvl9pPr>
          </a:lstStyle>
          <a:p>
            <a:endParaRPr/>
          </a:p>
        </p:txBody>
      </p:sp>
      <p:sp>
        <p:nvSpPr>
          <p:cNvPr id="56" name="Google Shape;56;p1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25700" rIns="51425" bIns="2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5224268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60" r:id="rId12"/>
    <p:sldLayoutId id="2147483661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2.png"/><Relationship Id="rId5" Type="http://schemas.openxmlformats.org/officeDocument/2006/relationships/image" Target="../media/image3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svg"/><Relationship Id="rId10" Type="http://schemas.openxmlformats.org/officeDocument/2006/relationships/image" Target="../media/image10.svg"/><Relationship Id="rId11" Type="http://schemas.openxmlformats.org/officeDocument/2006/relationships/image" Target="../media/image11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324759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14"/>
          <p:cNvSpPr/>
          <p:nvPr/>
        </p:nvSpPr>
        <p:spPr>
          <a:xfrm>
            <a:off x="182880" y="192405"/>
            <a:ext cx="8778300" cy="4773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3" name="Google Shape;63;p14"/>
          <p:cNvCxnSpPr/>
          <p:nvPr/>
        </p:nvCxnSpPr>
        <p:spPr>
          <a:xfrm>
            <a:off x="1483995" y="4094226"/>
            <a:ext cx="6172200" cy="0"/>
          </a:xfrm>
          <a:prstGeom prst="straightConnector1">
            <a:avLst/>
          </a:prstGeom>
          <a:noFill/>
          <a:ln w="75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64" name="Google Shape;64;p14" descr="A river with trees in the background&#10;&#10;Description automatically generated"/>
          <p:cNvPicPr preferRelativeResize="0"/>
          <p:nvPr/>
        </p:nvPicPr>
        <p:blipFill rotWithShape="1">
          <a:blip r:embed="rId3">
            <a:alphaModFix amt="95000"/>
          </a:blip>
          <a:srcRect t="19916" b="11289"/>
          <a:stretch/>
        </p:blipFill>
        <p:spPr>
          <a:xfrm>
            <a:off x="182880" y="192405"/>
            <a:ext cx="8778240" cy="2476040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4"/>
          <p:cNvSpPr/>
          <p:nvPr/>
        </p:nvSpPr>
        <p:spPr>
          <a:xfrm>
            <a:off x="169725" y="2325150"/>
            <a:ext cx="8887200" cy="439800"/>
          </a:xfrm>
          <a:prstGeom prst="rect">
            <a:avLst/>
          </a:prstGeom>
          <a:solidFill>
            <a:srgbClr val="324759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14"/>
          <p:cNvSpPr/>
          <p:nvPr/>
        </p:nvSpPr>
        <p:spPr>
          <a:xfrm>
            <a:off x="2644759" y="1924810"/>
            <a:ext cx="3850800" cy="1240500"/>
          </a:xfrm>
          <a:prstGeom prst="ellipse">
            <a:avLst/>
          </a:prstGeom>
          <a:solidFill>
            <a:srgbClr val="324759"/>
          </a:solidFill>
          <a:ln w="14300" cap="flat" cmpd="sng">
            <a:solidFill>
              <a:srgbClr val="3247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7" name="Google Shape;67;p14"/>
          <p:cNvGrpSpPr/>
          <p:nvPr/>
        </p:nvGrpSpPr>
        <p:grpSpPr>
          <a:xfrm>
            <a:off x="2927865" y="1670989"/>
            <a:ext cx="3118423" cy="1754116"/>
            <a:chOff x="4438478" y="2730587"/>
            <a:chExt cx="3187920" cy="1793208"/>
          </a:xfrm>
        </p:grpSpPr>
        <p:sp>
          <p:nvSpPr>
            <p:cNvPr id="68" name="Google Shape;68;p14"/>
            <p:cNvSpPr/>
            <p:nvPr/>
          </p:nvSpPr>
          <p:spPr>
            <a:xfrm>
              <a:off x="4884023" y="3285361"/>
              <a:ext cx="333600" cy="333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69" name="Google Shape;69;p14" descr="A logo with text on it&#10;&#10;Description automatically generated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4438478" y="2730587"/>
              <a:ext cx="3187920" cy="179320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0" name="Google Shape;70;p14"/>
          <p:cNvSpPr txBox="1"/>
          <p:nvPr/>
        </p:nvSpPr>
        <p:spPr>
          <a:xfrm>
            <a:off x="2564746" y="4168064"/>
            <a:ext cx="4017300" cy="23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/>
          </a:p>
        </p:txBody>
      </p:sp>
      <p:sp>
        <p:nvSpPr>
          <p:cNvPr id="71" name="Google Shape;71;p14"/>
          <p:cNvSpPr/>
          <p:nvPr/>
        </p:nvSpPr>
        <p:spPr>
          <a:xfrm>
            <a:off x="1304632" y="3738519"/>
            <a:ext cx="6617400" cy="839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14"/>
          <p:cNvSpPr txBox="1">
            <a:spLocks noGrp="1"/>
          </p:cNvSpPr>
          <p:nvPr>
            <p:ph type="ctrTitle"/>
          </p:nvPr>
        </p:nvSpPr>
        <p:spPr>
          <a:xfrm>
            <a:off x="348375" y="3433025"/>
            <a:ext cx="6172200" cy="132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Lato"/>
              <a:buNone/>
            </a:pPr>
            <a:r>
              <a:rPr lang="en" sz="3100" dirty="0">
                <a:solidFill>
                  <a:srgbClr val="324759"/>
                </a:solidFill>
                <a:latin typeface="Lato"/>
                <a:ea typeface="Lato"/>
                <a:cs typeface="Lato"/>
                <a:sym typeface="Lato"/>
              </a:rPr>
              <a:t>Session 1 · Module 1</a:t>
            </a:r>
            <a:endParaRPr sz="3100" dirty="0">
              <a:solidFill>
                <a:srgbClr val="324759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Lato"/>
              <a:buNone/>
            </a:pPr>
            <a:r>
              <a:rPr lang="en" sz="2200" dirty="0">
                <a:solidFill>
                  <a:srgbClr val="324759"/>
                </a:solidFill>
                <a:latin typeface="Lato"/>
                <a:ea typeface="Lato"/>
                <a:cs typeface="Lato"/>
                <a:sym typeface="Lato"/>
              </a:rPr>
              <a:t>Data best practices</a:t>
            </a:r>
            <a:endParaRPr sz="4100" dirty="0">
              <a:solidFill>
                <a:srgbClr val="324759"/>
              </a:solidFill>
            </a:endParaRPr>
          </a:p>
        </p:txBody>
      </p:sp>
      <p:pic>
        <p:nvPicPr>
          <p:cNvPr id="73" name="Google Shape;73;p14" descr="A person smiling at camera&#10;&#10;AI-generated content may be incorrect.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126340" y="3072881"/>
            <a:ext cx="1021200" cy="1021200"/>
          </a:xfrm>
          <a:prstGeom prst="flowChartConnector">
            <a:avLst/>
          </a:prstGeom>
          <a:noFill/>
          <a:ln>
            <a:noFill/>
          </a:ln>
        </p:spPr>
      </p:pic>
      <p:sp>
        <p:nvSpPr>
          <p:cNvPr id="74" name="Google Shape;74;p14"/>
          <p:cNvSpPr txBox="1"/>
          <p:nvPr/>
        </p:nvSpPr>
        <p:spPr>
          <a:xfrm>
            <a:off x="6778073" y="4224425"/>
            <a:ext cx="1842300" cy="5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324759"/>
                </a:solidFill>
                <a:latin typeface="Lato Black"/>
                <a:ea typeface="Lato Black"/>
                <a:cs typeface="Lato Black"/>
                <a:sym typeface="Lato Black"/>
              </a:rPr>
              <a:t>Lindsay Platt </a:t>
            </a:r>
            <a:r>
              <a:rPr lang="en" sz="900" b="0" i="0" u="none" strike="noStrike" cap="none">
                <a:solidFill>
                  <a:srgbClr val="324759"/>
                </a:solidFill>
                <a:latin typeface="Lato"/>
                <a:ea typeface="Lato"/>
                <a:cs typeface="Lato"/>
                <a:sym typeface="Lato"/>
              </a:rPr>
              <a:t>(she/her)</a:t>
            </a:r>
            <a:endParaRPr sz="800">
              <a:solidFill>
                <a:srgbClr val="324759"/>
              </a:solidFill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0" i="0" u="none" strike="noStrike" cap="none">
                <a:solidFill>
                  <a:srgbClr val="324759"/>
                </a:solidFill>
                <a:latin typeface="Lato"/>
                <a:ea typeface="Lato"/>
                <a:cs typeface="Lato"/>
                <a:sym typeface="Lato"/>
              </a:rPr>
              <a:t>Environmental Data Scientist</a:t>
            </a:r>
            <a:endParaRPr sz="800">
              <a:solidFill>
                <a:srgbClr val="324759"/>
              </a:solidFill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0" i="0" u="none" strike="noStrike" cap="none">
                <a:solidFill>
                  <a:srgbClr val="324759"/>
                </a:solidFill>
                <a:latin typeface="Lato"/>
                <a:ea typeface="Lato"/>
                <a:cs typeface="Lato"/>
                <a:sym typeface="Lato"/>
              </a:rPr>
              <a:t>lplatt@cuahsi.org</a:t>
            </a:r>
            <a:endParaRPr sz="800">
              <a:solidFill>
                <a:srgbClr val="324759"/>
              </a:solidFill>
            </a:endParaRPr>
          </a:p>
        </p:txBody>
      </p:sp>
      <p:sp>
        <p:nvSpPr>
          <p:cNvPr id="75" name="Google Shape;75;p14"/>
          <p:cNvSpPr txBox="1"/>
          <p:nvPr/>
        </p:nvSpPr>
        <p:spPr>
          <a:xfrm>
            <a:off x="178061" y="2358960"/>
            <a:ext cx="2505035" cy="4847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900" b="1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Reproducible Workflows with Open Water Data: </a:t>
            </a:r>
            <a:r>
              <a:rPr lang="en-US" sz="900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NASA, NOAA, USGS River Data Access</a:t>
            </a:r>
            <a:endParaRPr sz="900"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900"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6" name="Google Shape;76;p14"/>
          <p:cNvSpPr txBox="1"/>
          <p:nvPr/>
        </p:nvSpPr>
        <p:spPr>
          <a:xfrm>
            <a:off x="6461571" y="2433444"/>
            <a:ext cx="2475300" cy="3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November 3, 2026</a:t>
            </a:r>
            <a:endParaRPr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6"/>
          <p:cNvSpPr/>
          <p:nvPr/>
        </p:nvSpPr>
        <p:spPr>
          <a:xfrm>
            <a:off x="2730986" y="323970"/>
            <a:ext cx="722471" cy="726911"/>
          </a:xfrm>
          <a:prstGeom prst="round2DiagRect">
            <a:avLst>
              <a:gd name="adj1" fmla="val 25856"/>
              <a:gd name="adj2" fmla="val 0"/>
            </a:avLst>
          </a:prstGeom>
          <a:solidFill>
            <a:srgbClr val="324759"/>
          </a:solidFill>
          <a:ln>
            <a:noFill/>
          </a:ln>
        </p:spPr>
        <p:txBody>
          <a:bodyPr spcFirstLastPara="1" wrap="square" lIns="42275" tIns="42275" rIns="42275" bIns="422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48"/>
          </a:p>
        </p:txBody>
      </p:sp>
      <p:sp>
        <p:nvSpPr>
          <p:cNvPr id="214" name="Google Shape;214;p26"/>
          <p:cNvSpPr/>
          <p:nvPr/>
        </p:nvSpPr>
        <p:spPr>
          <a:xfrm>
            <a:off x="2730988" y="1580209"/>
            <a:ext cx="722471" cy="726911"/>
          </a:xfrm>
          <a:prstGeom prst="round2DiagRect">
            <a:avLst>
              <a:gd name="adj1" fmla="val 25856"/>
              <a:gd name="adj2" fmla="val 0"/>
            </a:avLst>
          </a:prstGeom>
          <a:solidFill>
            <a:srgbClr val="324759"/>
          </a:solidFill>
          <a:ln>
            <a:noFill/>
          </a:ln>
        </p:spPr>
        <p:txBody>
          <a:bodyPr spcFirstLastPara="1" wrap="square" lIns="42275" tIns="42275" rIns="42275" bIns="422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48"/>
          </a:p>
        </p:txBody>
      </p:sp>
      <p:sp>
        <p:nvSpPr>
          <p:cNvPr id="217" name="Google Shape;217;p26"/>
          <p:cNvSpPr/>
          <p:nvPr/>
        </p:nvSpPr>
        <p:spPr>
          <a:xfrm>
            <a:off x="2730986" y="2836426"/>
            <a:ext cx="722471" cy="726911"/>
          </a:xfrm>
          <a:prstGeom prst="round2DiagRect">
            <a:avLst>
              <a:gd name="adj1" fmla="val 25856"/>
              <a:gd name="adj2" fmla="val 0"/>
            </a:avLst>
          </a:prstGeom>
          <a:solidFill>
            <a:srgbClr val="324759"/>
          </a:solidFill>
          <a:ln>
            <a:noFill/>
          </a:ln>
        </p:spPr>
        <p:txBody>
          <a:bodyPr spcFirstLastPara="1" wrap="square" lIns="42275" tIns="42275" rIns="42275" bIns="422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48"/>
          </a:p>
        </p:txBody>
      </p:sp>
      <p:grpSp>
        <p:nvGrpSpPr>
          <p:cNvPr id="219" name="Google Shape;219;p26"/>
          <p:cNvGrpSpPr/>
          <p:nvPr/>
        </p:nvGrpSpPr>
        <p:grpSpPr>
          <a:xfrm>
            <a:off x="2737152" y="4092620"/>
            <a:ext cx="722471" cy="726911"/>
            <a:chOff x="2439150" y="4049575"/>
            <a:chExt cx="1562100" cy="1571700"/>
          </a:xfrm>
        </p:grpSpPr>
        <p:sp>
          <p:nvSpPr>
            <p:cNvPr id="220" name="Google Shape;220;p26"/>
            <p:cNvSpPr/>
            <p:nvPr/>
          </p:nvSpPr>
          <p:spPr>
            <a:xfrm>
              <a:off x="2439150" y="4049575"/>
              <a:ext cx="1562100" cy="1571700"/>
            </a:xfrm>
            <a:prstGeom prst="round2DiagRect">
              <a:avLst>
                <a:gd name="adj1" fmla="val 25856"/>
                <a:gd name="adj2" fmla="val 0"/>
              </a:avLst>
            </a:prstGeom>
            <a:solidFill>
              <a:srgbClr val="324759"/>
            </a:solidFill>
            <a:ln>
              <a:noFill/>
            </a:ln>
          </p:spPr>
          <p:txBody>
            <a:bodyPr spcFirstLastPara="1" wrap="square" lIns="42275" tIns="42275" rIns="42275" bIns="422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48"/>
            </a:p>
          </p:txBody>
        </p:sp>
        <p:pic>
          <p:nvPicPr>
            <p:cNvPr id="221" name="Google Shape;221;p2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543843" y="4159096"/>
              <a:ext cx="1352650" cy="135265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</p:grpSp>
      <p:sp>
        <p:nvSpPr>
          <p:cNvPr id="222" name="Google Shape;222;p26"/>
          <p:cNvSpPr txBox="1"/>
          <p:nvPr/>
        </p:nvSpPr>
        <p:spPr>
          <a:xfrm>
            <a:off x="3458150" y="493924"/>
            <a:ext cx="2357100" cy="38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rgbClr val="324759"/>
                </a:solidFill>
              </a:rPr>
              <a:t>Modules 1–2</a:t>
            </a:r>
            <a:endParaRPr b="1" dirty="0">
              <a:solidFill>
                <a:srgbClr val="324759"/>
              </a:solidFill>
            </a:endParaRPr>
          </a:p>
        </p:txBody>
      </p:sp>
      <p:sp>
        <p:nvSpPr>
          <p:cNvPr id="223" name="Google Shape;223;p26"/>
          <p:cNvSpPr txBox="1"/>
          <p:nvPr/>
        </p:nvSpPr>
        <p:spPr>
          <a:xfrm>
            <a:off x="3458150" y="1655513"/>
            <a:ext cx="2357100" cy="5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rgbClr val="324759"/>
                </a:solidFill>
              </a:rPr>
              <a:t>Module 3 – Access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rgbClr val="324759"/>
                </a:solidFill>
              </a:rPr>
              <a:t>and retrieval</a:t>
            </a:r>
            <a:endParaRPr b="1" dirty="0">
              <a:solidFill>
                <a:srgbClr val="324759"/>
              </a:solidFill>
            </a:endParaRPr>
          </a:p>
        </p:txBody>
      </p:sp>
      <p:sp>
        <p:nvSpPr>
          <p:cNvPr id="224" name="Google Shape;224;p26"/>
          <p:cNvSpPr txBox="1"/>
          <p:nvPr/>
        </p:nvSpPr>
        <p:spPr>
          <a:xfrm>
            <a:off x="3458150" y="3006399"/>
            <a:ext cx="2441700" cy="38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324759"/>
                </a:solidFill>
              </a:rPr>
              <a:t>Module 4 – Synthesis</a:t>
            </a:r>
            <a:endParaRPr b="1">
              <a:solidFill>
                <a:srgbClr val="324759"/>
              </a:solidFill>
            </a:endParaRPr>
          </a:p>
        </p:txBody>
      </p:sp>
      <p:sp>
        <p:nvSpPr>
          <p:cNvPr id="225" name="Google Shape;225;p26"/>
          <p:cNvSpPr txBox="1"/>
          <p:nvPr/>
        </p:nvSpPr>
        <p:spPr>
          <a:xfrm>
            <a:off x="8175550" y="394700"/>
            <a:ext cx="591300" cy="38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 i="1">
                <a:solidFill>
                  <a:schemeClr val="dk1"/>
                </a:solidFill>
              </a:rPr>
              <a:t>Nov 3</a:t>
            </a:r>
            <a:endParaRPr sz="800" b="1" i="1"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 i="1">
                <a:solidFill>
                  <a:schemeClr val="dk1"/>
                </a:solidFill>
              </a:rPr>
              <a:t>2:00 ET</a:t>
            </a:r>
            <a:endParaRPr sz="800" b="1" i="1">
              <a:solidFill>
                <a:schemeClr val="dk1"/>
              </a:solidFill>
            </a:endParaRPr>
          </a:p>
        </p:txBody>
      </p:sp>
      <p:sp>
        <p:nvSpPr>
          <p:cNvPr id="226" name="Google Shape;226;p26"/>
          <p:cNvSpPr txBox="1"/>
          <p:nvPr/>
        </p:nvSpPr>
        <p:spPr>
          <a:xfrm>
            <a:off x="5930150" y="2957099"/>
            <a:ext cx="830400" cy="44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i="1">
                <a:solidFill>
                  <a:schemeClr val="dk1"/>
                </a:solidFill>
              </a:rPr>
              <a:t>Nov 19</a:t>
            </a:r>
            <a:endParaRPr sz="1200" b="1" i="1"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i="1">
                <a:solidFill>
                  <a:schemeClr val="dk1"/>
                </a:solidFill>
              </a:rPr>
              <a:t>2:00 ET</a:t>
            </a:r>
            <a:endParaRPr sz="1200" b="1" i="1">
              <a:solidFill>
                <a:schemeClr val="dk1"/>
              </a:solidFill>
            </a:endParaRPr>
          </a:p>
        </p:txBody>
      </p:sp>
      <p:sp>
        <p:nvSpPr>
          <p:cNvPr id="227" name="Google Shape;227;p26"/>
          <p:cNvSpPr txBox="1"/>
          <p:nvPr/>
        </p:nvSpPr>
        <p:spPr>
          <a:xfrm>
            <a:off x="5936300" y="4213305"/>
            <a:ext cx="1213300" cy="44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i="1" dirty="0">
                <a:solidFill>
                  <a:schemeClr val="dk1"/>
                </a:solidFill>
              </a:rPr>
              <a:t>Dec 1, Dec 3</a:t>
            </a:r>
            <a:endParaRPr sz="1200" b="1" i="1" dirty="0"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i="1" dirty="0">
                <a:solidFill>
                  <a:schemeClr val="dk1"/>
                </a:solidFill>
              </a:rPr>
              <a:t>2:00 ET</a:t>
            </a:r>
            <a:endParaRPr sz="1200" b="1" i="1" dirty="0">
              <a:solidFill>
                <a:schemeClr val="dk1"/>
              </a:solidFill>
            </a:endParaRPr>
          </a:p>
        </p:txBody>
      </p:sp>
      <p:sp>
        <p:nvSpPr>
          <p:cNvPr id="228" name="Google Shape;228;p26"/>
          <p:cNvSpPr txBox="1"/>
          <p:nvPr/>
        </p:nvSpPr>
        <p:spPr>
          <a:xfrm>
            <a:off x="3464300" y="4207530"/>
            <a:ext cx="2441700" cy="49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324759"/>
                </a:solidFill>
              </a:rPr>
              <a:t>Peer review and demos</a:t>
            </a:r>
            <a:endParaRPr b="1">
              <a:solidFill>
                <a:srgbClr val="324759"/>
              </a:solidFill>
            </a:endParaRPr>
          </a:p>
        </p:txBody>
      </p:sp>
      <p:sp>
        <p:nvSpPr>
          <p:cNvPr id="229" name="Google Shape;229;p26"/>
          <p:cNvSpPr txBox="1"/>
          <p:nvPr/>
        </p:nvSpPr>
        <p:spPr>
          <a:xfrm>
            <a:off x="8056000" y="1558225"/>
            <a:ext cx="830400" cy="33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 i="1">
                <a:solidFill>
                  <a:schemeClr val="dk1"/>
                </a:solidFill>
              </a:rPr>
              <a:t>Nov 10</a:t>
            </a:r>
            <a:endParaRPr sz="800" b="1" i="1"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 i="1">
                <a:solidFill>
                  <a:schemeClr val="dk1"/>
                </a:solidFill>
              </a:rPr>
              <a:t>2:00 ET</a:t>
            </a:r>
            <a:endParaRPr sz="800" b="1" i="1">
              <a:solidFill>
                <a:schemeClr val="dk1"/>
              </a:solidFill>
            </a:endParaRPr>
          </a:p>
        </p:txBody>
      </p:sp>
      <p:sp>
        <p:nvSpPr>
          <p:cNvPr id="230" name="Google Shape;230;p26"/>
          <p:cNvSpPr txBox="1"/>
          <p:nvPr/>
        </p:nvSpPr>
        <p:spPr>
          <a:xfrm>
            <a:off x="8056000" y="1956000"/>
            <a:ext cx="830400" cy="33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 i="1">
                <a:solidFill>
                  <a:schemeClr val="dk1"/>
                </a:solidFill>
              </a:rPr>
              <a:t>Nov 12</a:t>
            </a:r>
            <a:endParaRPr sz="800" b="1" i="1"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 i="1">
                <a:solidFill>
                  <a:schemeClr val="dk1"/>
                </a:solidFill>
              </a:rPr>
              <a:t>2:00 ET</a:t>
            </a:r>
            <a:endParaRPr sz="800" b="1" i="1">
              <a:solidFill>
                <a:schemeClr val="dk1"/>
              </a:solidFill>
            </a:endParaRPr>
          </a:p>
        </p:txBody>
      </p:sp>
      <p:sp>
        <p:nvSpPr>
          <p:cNvPr id="231" name="Google Shape;231;p26"/>
          <p:cNvSpPr txBox="1"/>
          <p:nvPr/>
        </p:nvSpPr>
        <p:spPr>
          <a:xfrm>
            <a:off x="8056000" y="2353775"/>
            <a:ext cx="830400" cy="33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 i="1">
                <a:solidFill>
                  <a:schemeClr val="dk1"/>
                </a:solidFill>
              </a:rPr>
              <a:t>Nov 17</a:t>
            </a:r>
            <a:endParaRPr sz="800" b="1" i="1"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 i="1">
                <a:solidFill>
                  <a:schemeClr val="dk1"/>
                </a:solidFill>
              </a:rPr>
              <a:t>2:00 ET</a:t>
            </a:r>
            <a:endParaRPr sz="800" b="1" i="1">
              <a:solidFill>
                <a:schemeClr val="dk1"/>
              </a:solidFill>
            </a:endParaRPr>
          </a:p>
        </p:txBody>
      </p:sp>
      <p:cxnSp>
        <p:nvCxnSpPr>
          <p:cNvPr id="232" name="Google Shape;232;p26"/>
          <p:cNvCxnSpPr>
            <a:endCxn id="233" idx="2"/>
          </p:cNvCxnSpPr>
          <p:nvPr/>
        </p:nvCxnSpPr>
        <p:spPr>
          <a:xfrm rot="10800000" flipH="1">
            <a:off x="5446860" y="1729561"/>
            <a:ext cx="368400" cy="75000"/>
          </a:xfrm>
          <a:prstGeom prst="straightConnector1">
            <a:avLst/>
          </a:prstGeom>
          <a:noFill/>
          <a:ln w="9525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4" name="Google Shape;234;p26"/>
          <p:cNvCxnSpPr>
            <a:endCxn id="235" idx="2"/>
          </p:cNvCxnSpPr>
          <p:nvPr/>
        </p:nvCxnSpPr>
        <p:spPr>
          <a:xfrm>
            <a:off x="5452567" y="1807477"/>
            <a:ext cx="362700" cy="319800"/>
          </a:xfrm>
          <a:prstGeom prst="straightConnector1">
            <a:avLst/>
          </a:prstGeom>
          <a:noFill/>
          <a:ln w="9525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6" name="Google Shape;236;p26"/>
          <p:cNvCxnSpPr>
            <a:endCxn id="237" idx="2"/>
          </p:cNvCxnSpPr>
          <p:nvPr/>
        </p:nvCxnSpPr>
        <p:spPr>
          <a:xfrm>
            <a:off x="5444758" y="1804091"/>
            <a:ext cx="370500" cy="720900"/>
          </a:xfrm>
          <a:prstGeom prst="straightConnector1">
            <a:avLst/>
          </a:prstGeom>
          <a:noFill/>
          <a:ln w="9525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8" name="Google Shape;238;p26"/>
          <p:cNvSpPr/>
          <p:nvPr/>
        </p:nvSpPr>
        <p:spPr>
          <a:xfrm>
            <a:off x="0" y="50"/>
            <a:ext cx="2266200" cy="5143500"/>
          </a:xfrm>
          <a:prstGeom prst="rect">
            <a:avLst/>
          </a:prstGeom>
          <a:solidFill>
            <a:srgbClr val="324759"/>
          </a:solidFill>
          <a:ln w="9525" cap="flat" cmpd="sng">
            <a:solidFill>
              <a:srgbClr val="3247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b="1"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 dirty="0">
                <a:solidFill>
                  <a:schemeClr val="lt1"/>
                </a:solidFill>
              </a:rPr>
              <a:t>Program Schedule</a:t>
            </a:r>
            <a:endParaRPr sz="2200" b="1" dirty="0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 dirty="0">
                <a:solidFill>
                  <a:schemeClr val="lt1"/>
                </a:solidFill>
              </a:rPr>
              <a:t>November 2026</a:t>
            </a:r>
            <a:endParaRPr sz="1500" i="1" dirty="0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 dirty="0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 dirty="0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 dirty="0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 dirty="0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 dirty="0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 dirty="0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 dirty="0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 dirty="0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 dirty="0">
              <a:solidFill>
                <a:schemeClr val="lt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 b="1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Reproducible Workflows with Open Water Data</a:t>
            </a:r>
            <a:endParaRPr sz="1050"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 i="1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NASA, NOAA, USGS River Data Access</a:t>
            </a:r>
            <a:endParaRPr sz="900" i="1" dirty="0">
              <a:solidFill>
                <a:schemeClr val="lt1"/>
              </a:solidFill>
            </a:endParaRPr>
          </a:p>
        </p:txBody>
      </p:sp>
      <p:grpSp>
        <p:nvGrpSpPr>
          <p:cNvPr id="239" name="Google Shape;239;p26"/>
          <p:cNvGrpSpPr/>
          <p:nvPr/>
        </p:nvGrpSpPr>
        <p:grpSpPr>
          <a:xfrm>
            <a:off x="289575" y="4522051"/>
            <a:ext cx="1687050" cy="504875"/>
            <a:chOff x="4438480" y="3150149"/>
            <a:chExt cx="3187925" cy="954034"/>
          </a:xfrm>
        </p:grpSpPr>
        <p:sp>
          <p:nvSpPr>
            <p:cNvPr id="240" name="Google Shape;240;p26"/>
            <p:cNvSpPr/>
            <p:nvPr/>
          </p:nvSpPr>
          <p:spPr>
            <a:xfrm>
              <a:off x="4884023" y="3285361"/>
              <a:ext cx="333600" cy="333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37100" tIns="18525" rIns="37100" bIns="185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595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41" name="Google Shape;241;p26" descr="A logo with text on it&#10;&#10;Description automatically generated"/>
            <p:cNvPicPr preferRelativeResize="0"/>
            <p:nvPr/>
          </p:nvPicPr>
          <p:blipFill rotWithShape="1">
            <a:blip r:embed="rId4">
              <a:alphaModFix/>
            </a:blip>
            <a:srcRect t="23392" b="23408"/>
            <a:stretch/>
          </p:blipFill>
          <p:spPr>
            <a:xfrm>
              <a:off x="4438480" y="3150149"/>
              <a:ext cx="3187925" cy="95403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42" name="Google Shape;242;p26"/>
          <p:cNvSpPr/>
          <p:nvPr/>
        </p:nvSpPr>
        <p:spPr>
          <a:xfrm>
            <a:off x="5815260" y="1565947"/>
            <a:ext cx="325200" cy="327300"/>
          </a:xfrm>
          <a:prstGeom prst="round2DiagRect">
            <a:avLst>
              <a:gd name="adj1" fmla="val 25856"/>
              <a:gd name="adj2" fmla="val 0"/>
            </a:avLst>
          </a:prstGeom>
          <a:solidFill>
            <a:srgbClr val="324759"/>
          </a:solidFill>
          <a:ln>
            <a:noFill/>
          </a:ln>
        </p:spPr>
        <p:txBody>
          <a:bodyPr spcFirstLastPara="1" wrap="square" lIns="19025" tIns="19025" rIns="19025" bIns="190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91"/>
          </a:p>
        </p:txBody>
      </p:sp>
      <p:sp>
        <p:nvSpPr>
          <p:cNvPr id="244" name="Google Shape;244;p26"/>
          <p:cNvSpPr/>
          <p:nvPr/>
        </p:nvSpPr>
        <p:spPr>
          <a:xfrm>
            <a:off x="5815267" y="1963662"/>
            <a:ext cx="325200" cy="327300"/>
          </a:xfrm>
          <a:prstGeom prst="round2DiagRect">
            <a:avLst>
              <a:gd name="adj1" fmla="val 25856"/>
              <a:gd name="adj2" fmla="val 0"/>
            </a:avLst>
          </a:prstGeom>
          <a:solidFill>
            <a:srgbClr val="324759"/>
          </a:solidFill>
          <a:ln>
            <a:noFill/>
          </a:ln>
        </p:spPr>
        <p:txBody>
          <a:bodyPr spcFirstLastPara="1" wrap="square" lIns="19025" tIns="19025" rIns="19025" bIns="190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91"/>
          </a:p>
        </p:txBody>
      </p:sp>
      <p:pic>
        <p:nvPicPr>
          <p:cNvPr id="246" name="Google Shape;246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12841" y="2959799"/>
            <a:ext cx="558760" cy="480164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48" name="Google Shape;248;p26"/>
          <p:cNvSpPr/>
          <p:nvPr/>
        </p:nvSpPr>
        <p:spPr>
          <a:xfrm>
            <a:off x="5815258" y="2361377"/>
            <a:ext cx="325229" cy="327228"/>
          </a:xfrm>
          <a:prstGeom prst="round2DiagRect">
            <a:avLst>
              <a:gd name="adj1" fmla="val 25856"/>
              <a:gd name="adj2" fmla="val 0"/>
            </a:avLst>
          </a:prstGeom>
          <a:solidFill>
            <a:srgbClr val="324759"/>
          </a:solidFill>
          <a:ln>
            <a:noFill/>
          </a:ln>
        </p:spPr>
        <p:txBody>
          <a:bodyPr spcFirstLastPara="1" wrap="square" lIns="19025" tIns="19025" rIns="19025" bIns="190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91"/>
          </a:p>
        </p:txBody>
      </p:sp>
      <p:sp>
        <p:nvSpPr>
          <p:cNvPr id="250" name="Google Shape;250;p26"/>
          <p:cNvSpPr txBox="1"/>
          <p:nvPr/>
        </p:nvSpPr>
        <p:spPr>
          <a:xfrm>
            <a:off x="6172325" y="1556115"/>
            <a:ext cx="1847700" cy="33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 i="1" dirty="0">
                <a:solidFill>
                  <a:srgbClr val="324759"/>
                </a:solidFill>
              </a:rPr>
              <a:t>NASA SWOT</a:t>
            </a:r>
            <a:endParaRPr sz="800" b="1" i="1" dirty="0">
              <a:solidFill>
                <a:srgbClr val="324759"/>
              </a:solidFill>
            </a:endParaRPr>
          </a:p>
        </p:txBody>
      </p:sp>
      <p:sp>
        <p:nvSpPr>
          <p:cNvPr id="251" name="Google Shape;251;p26"/>
          <p:cNvSpPr txBox="1"/>
          <p:nvPr/>
        </p:nvSpPr>
        <p:spPr>
          <a:xfrm>
            <a:off x="6172325" y="1953895"/>
            <a:ext cx="1847700" cy="33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 i="1">
                <a:solidFill>
                  <a:srgbClr val="324759"/>
                </a:solidFill>
              </a:rPr>
              <a:t>NOAA NWM</a:t>
            </a:r>
            <a:endParaRPr sz="800" b="1" i="1">
              <a:solidFill>
                <a:srgbClr val="324759"/>
              </a:solidFill>
            </a:endParaRPr>
          </a:p>
        </p:txBody>
      </p:sp>
      <p:sp>
        <p:nvSpPr>
          <p:cNvPr id="252" name="Google Shape;252;p26"/>
          <p:cNvSpPr txBox="1"/>
          <p:nvPr/>
        </p:nvSpPr>
        <p:spPr>
          <a:xfrm>
            <a:off x="6172325" y="2351674"/>
            <a:ext cx="1847700" cy="33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 i="1">
                <a:solidFill>
                  <a:srgbClr val="324759"/>
                </a:solidFill>
              </a:rPr>
              <a:t>USGS WDFN</a:t>
            </a:r>
            <a:endParaRPr sz="800" b="1" i="1">
              <a:solidFill>
                <a:srgbClr val="324759"/>
              </a:solidFill>
            </a:endParaRPr>
          </a:p>
        </p:txBody>
      </p:sp>
      <p:sp>
        <p:nvSpPr>
          <p:cNvPr id="254" name="Google Shape;254;p26"/>
          <p:cNvSpPr/>
          <p:nvPr/>
        </p:nvSpPr>
        <p:spPr>
          <a:xfrm>
            <a:off x="5817384" y="900018"/>
            <a:ext cx="325229" cy="327228"/>
          </a:xfrm>
          <a:prstGeom prst="round2DiagRect">
            <a:avLst>
              <a:gd name="adj1" fmla="val 25856"/>
              <a:gd name="adj2" fmla="val 0"/>
            </a:avLst>
          </a:prstGeom>
          <a:solidFill>
            <a:srgbClr val="324759"/>
          </a:solidFill>
          <a:ln>
            <a:noFill/>
          </a:ln>
        </p:spPr>
        <p:txBody>
          <a:bodyPr spcFirstLastPara="1" wrap="square" lIns="19025" tIns="19025" rIns="19025" bIns="190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91"/>
          </a:p>
        </p:txBody>
      </p:sp>
      <p:sp>
        <p:nvSpPr>
          <p:cNvPr id="256" name="Google Shape;256;p26"/>
          <p:cNvSpPr txBox="1"/>
          <p:nvPr/>
        </p:nvSpPr>
        <p:spPr>
          <a:xfrm>
            <a:off x="6172325" y="902393"/>
            <a:ext cx="1847700" cy="33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 i="1" dirty="0">
                <a:solidFill>
                  <a:srgbClr val="324759"/>
                </a:solidFill>
              </a:rPr>
              <a:t>Federal water data landscape</a:t>
            </a:r>
            <a:endParaRPr sz="800" b="1" i="1" dirty="0">
              <a:solidFill>
                <a:srgbClr val="324759"/>
              </a:solidFill>
            </a:endParaRPr>
          </a:p>
        </p:txBody>
      </p:sp>
      <p:sp>
        <p:nvSpPr>
          <p:cNvPr id="257" name="Google Shape;257;p26"/>
          <p:cNvSpPr txBox="1"/>
          <p:nvPr/>
        </p:nvSpPr>
        <p:spPr>
          <a:xfrm>
            <a:off x="8175550" y="845500"/>
            <a:ext cx="591300" cy="38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 i="1">
                <a:solidFill>
                  <a:schemeClr val="dk1"/>
                </a:solidFill>
              </a:rPr>
              <a:t>Nov 5</a:t>
            </a:r>
            <a:endParaRPr sz="800" b="1" i="1"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 i="1">
                <a:solidFill>
                  <a:schemeClr val="dk1"/>
                </a:solidFill>
              </a:rPr>
              <a:t>2:00 ET</a:t>
            </a:r>
            <a:endParaRPr sz="800" b="1" i="1">
              <a:solidFill>
                <a:schemeClr val="dk1"/>
              </a:solidFill>
            </a:endParaRPr>
          </a:p>
        </p:txBody>
      </p:sp>
      <p:sp>
        <p:nvSpPr>
          <p:cNvPr id="259" name="Google Shape;259;p26"/>
          <p:cNvSpPr/>
          <p:nvPr/>
        </p:nvSpPr>
        <p:spPr>
          <a:xfrm>
            <a:off x="5819958" y="429517"/>
            <a:ext cx="325200" cy="327300"/>
          </a:xfrm>
          <a:prstGeom prst="round2DiagRect">
            <a:avLst>
              <a:gd name="adj1" fmla="val 25856"/>
              <a:gd name="adj2" fmla="val 0"/>
            </a:avLst>
          </a:prstGeom>
          <a:solidFill>
            <a:srgbClr val="324759"/>
          </a:solidFill>
          <a:ln>
            <a:noFill/>
          </a:ln>
        </p:spPr>
        <p:txBody>
          <a:bodyPr spcFirstLastPara="1" wrap="square" lIns="19025" tIns="19025" rIns="19025" bIns="190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91"/>
          </a:p>
        </p:txBody>
      </p:sp>
      <p:sp>
        <p:nvSpPr>
          <p:cNvPr id="260" name="Google Shape;260;p26"/>
          <p:cNvSpPr txBox="1"/>
          <p:nvPr/>
        </p:nvSpPr>
        <p:spPr>
          <a:xfrm>
            <a:off x="6177025" y="419663"/>
            <a:ext cx="1847700" cy="33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 i="1">
                <a:solidFill>
                  <a:srgbClr val="324759"/>
                </a:solidFill>
              </a:rPr>
              <a:t>Data best practices</a:t>
            </a:r>
            <a:endParaRPr sz="800" b="1" i="1">
              <a:solidFill>
                <a:srgbClr val="324759"/>
              </a:solidFill>
            </a:endParaRPr>
          </a:p>
        </p:txBody>
      </p:sp>
      <p:pic>
        <p:nvPicPr>
          <p:cNvPr id="261" name="Google Shape;261;p2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835757" y="928289"/>
            <a:ext cx="281625" cy="281625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62" name="Google Shape;262;p26"/>
          <p:cNvSpPr txBox="1"/>
          <p:nvPr/>
        </p:nvSpPr>
        <p:spPr>
          <a:xfrm>
            <a:off x="327150" y="2127313"/>
            <a:ext cx="1611900" cy="5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1">
                <a:solidFill>
                  <a:srgbClr val="4EA72E"/>
                </a:solidFill>
              </a:rPr>
              <a:t>UP NEXT</a:t>
            </a:r>
            <a:endParaRPr sz="2500" b="1">
              <a:solidFill>
                <a:srgbClr val="4EA72E"/>
              </a:solidFill>
            </a:endParaRPr>
          </a:p>
        </p:txBody>
      </p:sp>
      <p:sp>
        <p:nvSpPr>
          <p:cNvPr id="263" name="Google Shape;263;p26"/>
          <p:cNvSpPr/>
          <p:nvPr/>
        </p:nvSpPr>
        <p:spPr>
          <a:xfrm>
            <a:off x="5620800" y="374219"/>
            <a:ext cx="3349500" cy="421800"/>
          </a:xfrm>
          <a:prstGeom prst="roundRect">
            <a:avLst>
              <a:gd name="adj" fmla="val 50000"/>
            </a:avLst>
          </a:prstGeom>
          <a:noFill/>
          <a:ln w="38100" cap="flat" cmpd="sng">
            <a:solidFill>
              <a:srgbClr val="4EA72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55" name="Google Shape;255;p2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855326" y="444609"/>
            <a:ext cx="281622" cy="281622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6" name="Google Shape;255;p26">
            <a:extLst>
              <a:ext uri="{FF2B5EF4-FFF2-40B4-BE49-F238E27FC236}">
                <a16:creationId xmlns:a16="http://schemas.microsoft.com/office/drawing/2014/main" id="{96E54603-9385-7F2E-B572-64588FE93F2A}"/>
              </a:ext>
            </a:extLst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869386" y="457714"/>
            <a:ext cx="445669" cy="457548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8" name="Google Shape;245;p26">
            <a:extLst>
              <a:ext uri="{FF2B5EF4-FFF2-40B4-BE49-F238E27FC236}">
                <a16:creationId xmlns:a16="http://schemas.microsoft.com/office/drawing/2014/main" id="{A8E1DD46-4FD7-B65C-E1A7-F906AF174900}"/>
              </a:ext>
            </a:extLst>
          </p:cNvPr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812841" y="1644071"/>
            <a:ext cx="547898" cy="578604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10" name="Graphic 9" descr="Satellite with solid fill">
            <a:extLst>
              <a:ext uri="{FF2B5EF4-FFF2-40B4-BE49-F238E27FC236}">
                <a16:creationId xmlns:a16="http://schemas.microsoft.com/office/drawing/2014/main" id="{8A36E77F-B251-9E30-41E2-711174BD183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860681" y="1602559"/>
            <a:ext cx="246175" cy="246175"/>
          </a:xfrm>
          <a:prstGeom prst="rect">
            <a:avLst/>
          </a:prstGeom>
        </p:spPr>
      </p:pic>
      <p:pic>
        <p:nvPicPr>
          <p:cNvPr id="12" name="Graphic 11" descr="Gyrotheodolite with solid fill">
            <a:extLst>
              <a:ext uri="{FF2B5EF4-FFF2-40B4-BE49-F238E27FC236}">
                <a16:creationId xmlns:a16="http://schemas.microsoft.com/office/drawing/2014/main" id="{5B05A2B6-9AB7-575D-E1B6-F9D7EE306FF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847096" y="2410505"/>
            <a:ext cx="245092" cy="245092"/>
          </a:xfrm>
          <a:prstGeom prst="rect">
            <a:avLst/>
          </a:prstGeom>
        </p:spPr>
      </p:pic>
      <p:pic>
        <p:nvPicPr>
          <p:cNvPr id="14" name="Graphic 13" descr="Server with solid fill">
            <a:extLst>
              <a:ext uri="{FF2B5EF4-FFF2-40B4-BE49-F238E27FC236}">
                <a16:creationId xmlns:a16="http://schemas.microsoft.com/office/drawing/2014/main" id="{ADEE3E3B-0759-2D6B-CF4C-39872553599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848769" y="1999512"/>
            <a:ext cx="255600" cy="255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146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79646" y="2184472"/>
            <a:ext cx="1352650" cy="135265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46" name="Google Shape;146;p17"/>
          <p:cNvSpPr txBox="1"/>
          <p:nvPr/>
        </p:nvSpPr>
        <p:spPr>
          <a:xfrm>
            <a:off x="3216625" y="2050197"/>
            <a:ext cx="5160000" cy="2672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chemeClr val="lt1"/>
                </a:solidFill>
              </a:rPr>
              <a:t>Session 1 · Module 1</a:t>
            </a:r>
            <a:endParaRPr sz="2000" b="1" dirty="0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i="1" dirty="0">
                <a:solidFill>
                  <a:schemeClr val="lt1"/>
                </a:solidFill>
              </a:rPr>
              <a:t>Data best practices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chemeClr val="lt1"/>
                </a:solidFill>
              </a:rPr>
              <a:t>Explain open science, FAIR principles, and reproducibility best practices, and their benefits to science products and the science community.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lang="en-US" sz="1500" dirty="0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chemeClr val="lt1"/>
                </a:solidFill>
              </a:rPr>
              <a:t>Outline the key elements of a data management plan and articulate the benefits of publishing scientific data in an appropriate repository.</a:t>
            </a:r>
          </a:p>
        </p:txBody>
      </p:sp>
      <p:sp>
        <p:nvSpPr>
          <p:cNvPr id="147" name="Google Shape;147;p17"/>
          <p:cNvSpPr txBox="1"/>
          <p:nvPr/>
        </p:nvSpPr>
        <p:spPr>
          <a:xfrm>
            <a:off x="1113900" y="679647"/>
            <a:ext cx="6916200" cy="6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 b="1" u="sng" dirty="0">
                <a:solidFill>
                  <a:srgbClr val="FFFFFF"/>
                </a:solidFill>
              </a:rPr>
              <a:t>Learning objectives for today</a:t>
            </a:r>
            <a:endParaRPr sz="2500" u="sng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Some good practices for sharing reusable code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2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Describe all code files in a README file</a:t>
            </a:r>
            <a:endParaRPr sz="160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Think through (and document!) the </a:t>
            </a:r>
            <a:r>
              <a:rPr lang="en" sz="1600" b="1"/>
              <a:t>end goal and the intended audience</a:t>
            </a:r>
            <a:endParaRPr sz="1600" b="1"/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E.g., providing a step-by-step guide for readers of your published study interested in adapting parts of your workflow</a:t>
            </a:r>
            <a:endParaRPr sz="160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Understand and document </a:t>
            </a:r>
            <a:r>
              <a:rPr lang="en" sz="1600" b="1"/>
              <a:t>the constraints</a:t>
            </a:r>
            <a:r>
              <a:rPr lang="en" sz="1600"/>
              <a:t> for using code  </a:t>
            </a:r>
            <a:endParaRPr sz="1600"/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Computational constraints (e.g., package and programming language versions)</a:t>
            </a:r>
            <a:endParaRPr sz="1600"/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Application-specific constraints (e.g., spatial or temporal subsetting)</a:t>
            </a:r>
            <a:endParaRPr sz="160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Try to</a:t>
            </a:r>
            <a:r>
              <a:rPr lang="en" sz="1600" b="1"/>
              <a:t> limit the amount of dependencies</a:t>
            </a:r>
            <a:r>
              <a:rPr lang="en" sz="1600"/>
              <a:t> and specialized packages</a:t>
            </a:r>
            <a:endParaRPr sz="16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0"/>
          <p:cNvSpPr txBox="1">
            <a:spLocks noGrp="1"/>
          </p:cNvSpPr>
          <p:nvPr>
            <p:ph type="body" idx="1"/>
          </p:nvPr>
        </p:nvSpPr>
        <p:spPr>
          <a:xfrm>
            <a:off x="311700" y="1395750"/>
            <a:ext cx="8520600" cy="357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marL="457200" lvl="0" indent="-334328" algn="l" rtl="0">
              <a:spcBef>
                <a:spcPts val="10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The homepage of your dataset! </a:t>
            </a:r>
            <a:endParaRPr/>
          </a:p>
          <a:p>
            <a:pPr marL="914400" lvl="1" indent="-310832" algn="l" rtl="0">
              <a:spcBef>
                <a:spcPts val="100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Called a “README” because it invites you to “READ ME FIRST”</a:t>
            </a:r>
            <a:endParaRPr/>
          </a:p>
          <a:p>
            <a:pPr marL="914400" lvl="1" indent="-310832" algn="l" rtl="0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Common in coding repositories, such as GitHub and software libraries</a:t>
            </a:r>
            <a:endParaRPr/>
          </a:p>
          <a:p>
            <a:pPr marL="457200" lvl="0" indent="-334328" algn="l" rtl="0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HydroShare will automatically render a preview of the README if included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  <a:p>
            <a:pPr marL="457200" lvl="0" indent="-334328" algn="l" rtl="0">
              <a:spcBef>
                <a:spcPts val="1000"/>
              </a:spcBef>
              <a:spcAft>
                <a:spcPts val="1200"/>
              </a:spcAft>
              <a:buSzPct val="100000"/>
              <a:buChar char="●"/>
            </a:pPr>
            <a:r>
              <a:rPr lang="en"/>
              <a:t>Give your users a quick overview of the files, introduction to what the resource contains and how they can use it, and other metadata as you see fit.</a:t>
            </a:r>
            <a:endParaRPr/>
          </a:p>
        </p:txBody>
      </p:sp>
      <p:sp>
        <p:nvSpPr>
          <p:cNvPr id="174" name="Google Shape;174;p20"/>
          <p:cNvSpPr/>
          <p:nvPr/>
        </p:nvSpPr>
        <p:spPr>
          <a:xfrm>
            <a:off x="3900" y="0"/>
            <a:ext cx="9136200" cy="1152600"/>
          </a:xfrm>
          <a:prstGeom prst="rect">
            <a:avLst/>
          </a:prstGeom>
          <a:solidFill>
            <a:srgbClr val="324759"/>
          </a:solidFill>
          <a:ln w="9525" cap="flat" cmpd="sng">
            <a:solidFill>
              <a:srgbClr val="3247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20"/>
          <p:cNvSpPr txBox="1"/>
          <p:nvPr/>
        </p:nvSpPr>
        <p:spPr>
          <a:xfrm>
            <a:off x="311700" y="2899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rgbClr val="FFFFFF"/>
                </a:solidFill>
              </a:rPr>
              <a:t>What is a README file?</a:t>
            </a:r>
            <a:endParaRPr sz="2800">
              <a:solidFill>
                <a:srgbClr val="FFFFFF"/>
              </a:solidFill>
            </a:endParaRPr>
          </a:p>
        </p:txBody>
      </p:sp>
      <p:pic>
        <p:nvPicPr>
          <p:cNvPr id="176" name="Google Shape;17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6625" y="2703199"/>
            <a:ext cx="7630751" cy="1456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Computational science is hard to make</a:t>
            </a:r>
            <a:r>
              <a:rPr lang="en" b="1" i="1"/>
              <a:t> truly </a:t>
            </a:r>
            <a:r>
              <a:rPr lang="en"/>
              <a:t>reusable</a:t>
            </a:r>
            <a:endParaRPr/>
          </a:p>
        </p:txBody>
      </p:sp>
      <p:pic>
        <p:nvPicPr>
          <p:cNvPr id="170" name="Google Shape;17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71728" y="1439775"/>
            <a:ext cx="4483042" cy="3263401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20"/>
          <p:cNvSpPr txBox="1"/>
          <p:nvPr/>
        </p:nvSpPr>
        <p:spPr>
          <a:xfrm>
            <a:off x="359850" y="4620300"/>
            <a:ext cx="842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</a:rPr>
              <a:t>Figure by Carole Goble adapted from Drummond C, Replicability is not Reproducibility: Nor is it Good Science, online</a:t>
            </a:r>
            <a:endParaRPr sz="900">
              <a:solidFill>
                <a:schemeClr val="dk2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</a:rPr>
              <a:t>and Peng RD, Reproducible Research in Computational Science Science 2 Dec 2011: 1226-1227.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72" name="Google Shape;172;p20"/>
          <p:cNvSpPr/>
          <p:nvPr/>
        </p:nvSpPr>
        <p:spPr>
          <a:xfrm>
            <a:off x="4328275" y="2830300"/>
            <a:ext cx="2879100" cy="1900500"/>
          </a:xfrm>
          <a:prstGeom prst="ellipse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20"/>
          <p:cNvSpPr txBox="1"/>
          <p:nvPr/>
        </p:nvSpPr>
        <p:spPr>
          <a:xfrm>
            <a:off x="7024350" y="2716475"/>
            <a:ext cx="1759800" cy="14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CUAHSI compute services help enable </a:t>
            </a:r>
            <a:r>
              <a:rPr lang="en" sz="1600" b="1" i="1">
                <a:solidFill>
                  <a:schemeClr val="dk2"/>
                </a:solidFill>
              </a:rPr>
              <a:t>reusability</a:t>
            </a:r>
            <a:endParaRPr sz="1600" b="1" i="1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146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2"/>
          <p:cNvSpPr txBox="1">
            <a:spLocks noGrp="1"/>
          </p:cNvSpPr>
          <p:nvPr>
            <p:ph type="title"/>
          </p:nvPr>
        </p:nvSpPr>
        <p:spPr>
          <a:xfrm>
            <a:off x="311700" y="261300"/>
            <a:ext cx="8520600" cy="445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 b="1">
                <a:solidFill>
                  <a:schemeClr val="lt1"/>
                </a:solidFill>
              </a:rPr>
              <a:t>A couple primer questions!</a:t>
            </a:r>
            <a:endParaRPr sz="4800" b="1">
              <a:solidFill>
                <a:schemeClr val="lt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4800" b="1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1000"/>
              </a:spcAft>
              <a:buNone/>
            </a:pPr>
            <a:r>
              <a:rPr lang="en" sz="2400" b="1" i="1">
                <a:solidFill>
                  <a:schemeClr val="lt1"/>
                </a:solidFill>
              </a:rPr>
              <a:t>Does your research group have existing best practices for reusability of data analysis workflows?</a:t>
            </a:r>
            <a:endParaRPr sz="2022" b="1" i="1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47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5"/>
          <p:cNvSpPr txBox="1">
            <a:spLocks noGrp="1"/>
          </p:cNvSpPr>
          <p:nvPr>
            <p:ph type="title"/>
          </p:nvPr>
        </p:nvSpPr>
        <p:spPr>
          <a:xfrm>
            <a:off x="311700" y="261300"/>
            <a:ext cx="8520600" cy="462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900" b="1">
                <a:solidFill>
                  <a:schemeClr val="lt1"/>
                </a:solidFill>
              </a:rPr>
              <a:t>Meet NASA SWOT</a:t>
            </a:r>
            <a:endParaRPr sz="622" i="1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146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0"/>
          <p:cNvSpPr txBox="1">
            <a:spLocks noGrp="1"/>
          </p:cNvSpPr>
          <p:nvPr>
            <p:ph type="title"/>
          </p:nvPr>
        </p:nvSpPr>
        <p:spPr>
          <a:xfrm>
            <a:off x="311700" y="261300"/>
            <a:ext cx="8520600" cy="462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 b="1">
                <a:solidFill>
                  <a:schemeClr val="lt1"/>
                </a:solidFill>
              </a:rPr>
              <a:t>Activity 1</a:t>
            </a:r>
            <a:endParaRPr sz="4800" b="1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700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lt1"/>
                </a:solidFill>
              </a:rPr>
              <a:t>Upload a file or folder to your HydroShare resource.</a:t>
            </a:r>
            <a:endParaRPr sz="2400">
              <a:solidFill>
                <a:schemeClr val="lt1"/>
              </a:solidFill>
            </a:endParaRPr>
          </a:p>
          <a:p>
            <a:pPr marL="457200" lvl="0" indent="-355600" algn="l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Char char="●"/>
            </a:pPr>
            <a:r>
              <a:rPr lang="en" sz="2000">
                <a:solidFill>
                  <a:schemeClr val="lt1"/>
                </a:solidFill>
              </a:rPr>
              <a:t>Choose something smallish for now.</a:t>
            </a:r>
            <a:endParaRPr sz="2000">
              <a:solidFill>
                <a:schemeClr val="lt1"/>
              </a:solidFill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●"/>
            </a:pPr>
            <a:r>
              <a:rPr lang="en" sz="2000">
                <a:solidFill>
                  <a:schemeClr val="lt1"/>
                </a:solidFill>
              </a:rPr>
              <a:t>You can always delete and rename this later after we get through the organizational best practices.</a:t>
            </a:r>
            <a:endParaRPr sz="2000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22" i="1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146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0"/>
          <p:cNvSpPr txBox="1">
            <a:spLocks noGrp="1"/>
          </p:cNvSpPr>
          <p:nvPr>
            <p:ph type="title"/>
          </p:nvPr>
        </p:nvSpPr>
        <p:spPr>
          <a:xfrm>
            <a:off x="311700" y="261300"/>
            <a:ext cx="8520600" cy="462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 b="1" dirty="0">
                <a:solidFill>
                  <a:schemeClr val="lt1"/>
                </a:solidFill>
              </a:rPr>
              <a:t>Live coding: find SWOT data</a:t>
            </a:r>
            <a:endParaRPr sz="4800" b="1" dirty="0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700" dirty="0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br>
              <a:rPr lang="en" sz="2000" dirty="0">
                <a:solidFill>
                  <a:schemeClr val="lt1"/>
                </a:solidFill>
                <a:latin typeface="Consolas" panose="020B0609020204030204" pitchFamily="49" charset="0"/>
              </a:rPr>
            </a:br>
            <a:br>
              <a:rPr lang="en" sz="2000" dirty="0">
                <a:solidFill>
                  <a:schemeClr val="lt1"/>
                </a:solidFill>
                <a:latin typeface="Consolas" panose="020B0609020204030204" pitchFamily="49" charset="0"/>
              </a:rPr>
            </a:br>
            <a:endParaRPr sz="2400" dirty="0">
              <a:solidFill>
                <a:schemeClr val="lt1"/>
              </a:solidFill>
              <a:latin typeface="Consolas" panose="020B0609020204030204" pitchFamily="49" charset="0"/>
            </a:endParaRPr>
          </a:p>
          <a:p>
            <a:pPr marL="457200" lvl="0" indent="-355600" algn="l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Char char="●"/>
            </a:pPr>
            <a:r>
              <a:rPr lang="en" sz="2000" dirty="0">
                <a:solidFill>
                  <a:schemeClr val="lt1"/>
                </a:solidFill>
              </a:rPr>
              <a:t>Run the sections "Find datasets" to "Find RiverSP granules over the Ohio at Louisville".</a:t>
            </a:r>
            <a:endParaRPr sz="2000" dirty="0">
              <a:solidFill>
                <a:schemeClr val="lt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16642D0-F4DD-11BE-4AB0-8C90950D0FD6}"/>
              </a:ext>
            </a:extLst>
          </p:cNvPr>
          <p:cNvSpPr txBox="1"/>
          <p:nvPr/>
        </p:nvSpPr>
        <p:spPr>
          <a:xfrm>
            <a:off x="577800" y="1676457"/>
            <a:ext cx="7988400" cy="40011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" sz="2000" dirty="0">
                <a:solidFill>
                  <a:srgbClr val="31465A"/>
                </a:solidFill>
                <a:latin typeface="Consolas" panose="020B0609020204030204" pitchFamily="49" charset="0"/>
              </a:rPr>
              <a:t>module-03_lesson-01_retrieve-nasa-swot-data.ipynb</a:t>
            </a:r>
            <a:endParaRPr lang="en-US" dirty="0">
              <a:solidFill>
                <a:srgbClr val="31465A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Find datasets</a:t>
            </a:r>
            <a:endParaRPr/>
          </a:p>
        </p:txBody>
      </p:sp>
      <p:sp>
        <p:nvSpPr>
          <p:cNvPr id="189" name="Google Shape;189;p2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54864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Find cloud-hosted river datasets over the site; keep the SWOT ones:</a:t>
            </a:r>
            <a:endParaRPr sz="1600"/>
          </a:p>
        </p:txBody>
      </p:sp>
      <p:sp>
        <p:nvSpPr>
          <p:cNvPr id="190" name="TextBox 189"/>
          <p:cNvSpPr txBox="1"/>
          <p:nvPr/>
        </p:nvSpPr>
        <p:spPr>
          <a:xfrm>
            <a:off x="457200" y="1920240"/>
            <a:ext cx="8229600" cy="2651760"/>
          </a:xfrm>
          <a:prstGeom prst="rect">
            <a:avLst/>
          </a:prstGeom>
          <a:solidFill>
            <a:srgbClr val="000000"/>
          </a:solidFill>
        </p:spPr>
        <p:txBody>
          <a:bodyPr wrap="square" lIns="137160" tIns="137160" rIns="137160" bIns="137160">
            <a:spAutoFit/>
          </a:bodyPr>
          <a:lstStyle/>
          <a:p>
            <a:r>
              <a:rPr sz="1300">
                <a:solidFill>
                  <a:srgbClr val="FFFFFF"/>
                </a:solidFill>
                <a:latin typeface="Courier New"/>
              </a:rPr>
              <a:t># Datasets matching "river" that are in the cloud and cover the site during the window</a:t>
            </a:r>
          </a:p>
          <a:p>
            <a:r>
              <a:rPr sz="1300">
                <a:solidFill>
                  <a:srgbClr val="FFFFFF"/>
                </a:solidFill>
                <a:latin typeface="Courier New"/>
              </a:rPr>
              <a:t>river_datasets = earthaccess.search_datasets(</a:t>
            </a:r>
          </a:p>
          <a:p>
            <a:r>
              <a:rPr sz="1300">
                <a:solidFill>
                  <a:srgbClr val="FFFFFF"/>
                </a:solidFill>
                <a:latin typeface="Courier New"/>
              </a:rPr>
              <a:t>    keyword="river",</a:t>
            </a:r>
          </a:p>
          <a:p>
            <a:r>
              <a:rPr sz="1300">
                <a:solidFill>
                  <a:srgbClr val="FFFFFF"/>
                </a:solidFill>
                <a:latin typeface="Courier New"/>
              </a:rPr>
              <a:t>    cloud_hosted=True,</a:t>
            </a:r>
          </a:p>
          <a:p>
            <a:r>
              <a:rPr sz="1300">
                <a:solidFill>
                  <a:srgbClr val="FFFFFF"/>
                </a:solidFill>
                <a:latin typeface="Courier New"/>
              </a:rPr>
              <a:t>    bounding_box=site_bbox,</a:t>
            </a:r>
          </a:p>
          <a:p>
            <a:r>
              <a:rPr sz="1300">
                <a:solidFill>
                  <a:srgbClr val="FFFFFF"/>
                </a:solidFill>
                <a:latin typeface="Courier New"/>
              </a:rPr>
              <a:t>    temporal=(start, end),</a:t>
            </a:r>
          </a:p>
          <a:p>
            <a:r>
              <a:rPr sz="1300">
                <a:solidFill>
                  <a:srgbClr val="FFFFFF"/>
                </a:solidFill>
                <a:latin typeface="Courier New"/>
              </a:rPr>
              <a:t>)</a:t>
            </a:r>
          </a:p>
          <a:p>
            <a:r>
              <a:rPr sz="1300">
                <a:solidFill>
                  <a:srgbClr val="FFFFFF"/>
                </a:solidFill>
                <a:latin typeface="Courier New"/>
              </a:rPr>
              <a:t>short_names = [d["umm"]["ShortName"] for d in river_datasets]</a:t>
            </a:r>
          </a:p>
          <a:p>
            <a:r>
              <a:rPr sz="1300">
                <a:solidFill>
                  <a:srgbClr val="FFFFFF"/>
                </a:solidFill>
                <a:latin typeface="Courier New"/>
              </a:rPr>
              <a:t>print(len(short_names), "datasets;", "SWOT ones:")</a:t>
            </a:r>
          </a:p>
          <a:p>
            <a:r>
              <a:rPr sz="1300">
                <a:solidFill>
                  <a:srgbClr val="FFFFFF"/>
                </a:solidFill>
                <a:latin typeface="Courier New"/>
              </a:rPr>
              <a:t>sorted(name for name in short_names if name.startswith("SWOT"))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4"/>
          <p:cNvSpPr/>
          <p:nvPr/>
        </p:nvSpPr>
        <p:spPr>
          <a:xfrm>
            <a:off x="3900" y="0"/>
            <a:ext cx="9136200" cy="1152600"/>
          </a:xfrm>
          <a:prstGeom prst="rect">
            <a:avLst/>
          </a:prstGeom>
          <a:solidFill>
            <a:srgbClr val="324759"/>
          </a:solidFill>
          <a:ln w="9525" cap="flat" cmpd="sng">
            <a:solidFill>
              <a:srgbClr val="3247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24"/>
          <p:cNvSpPr txBox="1">
            <a:spLocks noGrp="1"/>
          </p:cNvSpPr>
          <p:nvPr>
            <p:ph type="title"/>
          </p:nvPr>
        </p:nvSpPr>
        <p:spPr>
          <a:xfrm>
            <a:off x="311700" y="2899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Organizing files and folders for reuse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14" name="Google Shape;214;p24"/>
          <p:cNvSpPr txBox="1">
            <a:spLocks noGrp="1"/>
          </p:cNvSpPr>
          <p:nvPr>
            <p:ph type="body" idx="1"/>
          </p:nvPr>
        </p:nvSpPr>
        <p:spPr>
          <a:xfrm>
            <a:off x="311700" y="1499050"/>
            <a:ext cx="4053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Avoid overly compressed abbreviations</a:t>
            </a:r>
            <a:r>
              <a:rPr lang="en"/>
              <a:t> or define them in your metadata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Use </a:t>
            </a:r>
            <a:r>
              <a:rPr lang="en" b="1"/>
              <a:t>consistent naming patterns</a:t>
            </a:r>
            <a:r>
              <a:rPr lang="en"/>
              <a:t> to reflect relationships and workflow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b="1"/>
              <a:t>Group files</a:t>
            </a:r>
            <a:r>
              <a:rPr lang="en"/>
              <a:t> to organize by how someone would use them and reduce clutter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lt1"/>
                </a:solidFill>
              </a:rPr>
              <a:t>Include contextual or “informational” files (e.g., shapefiles, metadata tables).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15" name="Google Shape;215;p24"/>
          <p:cNvSpPr/>
          <p:nvPr/>
        </p:nvSpPr>
        <p:spPr>
          <a:xfrm>
            <a:off x="5892000" y="86400"/>
            <a:ext cx="3099600" cy="2312700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rgbClr val="3247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24"/>
          <p:cNvSpPr txBox="1"/>
          <p:nvPr/>
        </p:nvSpPr>
        <p:spPr>
          <a:xfrm>
            <a:off x="5941800" y="265196"/>
            <a:ext cx="3000000" cy="20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 b="1" u="sng">
                <a:solidFill>
                  <a:srgbClr val="324759"/>
                </a:solidFill>
              </a:rPr>
              <a:t>Key takeaways</a:t>
            </a:r>
            <a:endParaRPr sz="1700">
              <a:solidFill>
                <a:srgbClr val="324759"/>
              </a:solidFill>
            </a:endParaRPr>
          </a:p>
          <a:p>
            <a:pPr marL="0" lvl="0" indent="0" algn="ctr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324759"/>
                </a:solidFill>
              </a:rPr>
              <a:t>Think like a future user</a:t>
            </a:r>
            <a:endParaRPr sz="1900">
              <a:solidFill>
                <a:srgbClr val="324759"/>
              </a:solidFill>
            </a:endParaRPr>
          </a:p>
          <a:p>
            <a:pPr marL="0" lvl="0" indent="0" algn="ctr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324759"/>
                </a:solidFill>
              </a:rPr>
              <a:t>Name files clearly and consistently</a:t>
            </a:r>
            <a:endParaRPr sz="1900">
              <a:solidFill>
                <a:srgbClr val="324759"/>
              </a:solidFill>
            </a:endParaRPr>
          </a:p>
          <a:p>
            <a:pPr marL="0" lvl="0" indent="0" algn="ctr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900">
                <a:solidFill>
                  <a:srgbClr val="324759"/>
                </a:solidFill>
              </a:rPr>
              <a:t>Group logically</a:t>
            </a:r>
            <a:endParaRPr sz="1900">
              <a:solidFill>
                <a:srgbClr val="324759"/>
              </a:solidFill>
            </a:endParaRPr>
          </a:p>
        </p:txBody>
      </p:sp>
      <p:sp>
        <p:nvSpPr>
          <p:cNvPr id="217" name="Google Shape;217;p24"/>
          <p:cNvSpPr txBox="1"/>
          <p:nvPr/>
        </p:nvSpPr>
        <p:spPr>
          <a:xfrm>
            <a:off x="4189891" y="2840952"/>
            <a:ext cx="2186400" cy="187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rgbClr val="980000"/>
                </a:solidFill>
                <a:latin typeface="Courier New"/>
                <a:ea typeface="Courier New"/>
                <a:cs typeface="Courier New"/>
                <a:sym typeface="Courier New"/>
              </a:rPr>
              <a:t>station01_nitrate.csv</a:t>
            </a:r>
            <a:endParaRPr sz="1100" b="1">
              <a:solidFill>
                <a:srgbClr val="98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rgbClr val="980000"/>
                </a:solidFill>
                <a:latin typeface="Courier New"/>
                <a:ea typeface="Courier New"/>
                <a:cs typeface="Courier New"/>
                <a:sym typeface="Courier New"/>
              </a:rPr>
              <a:t>Station01_ph.csv</a:t>
            </a:r>
            <a:endParaRPr sz="1100" b="1">
              <a:solidFill>
                <a:srgbClr val="98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rgbClr val="980000"/>
                </a:solidFill>
                <a:latin typeface="Courier New"/>
                <a:ea typeface="Courier New"/>
                <a:cs typeface="Courier New"/>
                <a:sym typeface="Courier New"/>
              </a:rPr>
              <a:t>station01_temp.csv</a:t>
            </a:r>
            <a:endParaRPr sz="1100" b="1">
              <a:solidFill>
                <a:srgbClr val="98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rgbClr val="980000"/>
                </a:solidFill>
                <a:latin typeface="Courier New"/>
                <a:ea typeface="Courier New"/>
                <a:cs typeface="Courier New"/>
                <a:sym typeface="Courier New"/>
              </a:rPr>
              <a:t>station02_nitrate.csv</a:t>
            </a:r>
            <a:endParaRPr sz="1100" b="1">
              <a:solidFill>
                <a:srgbClr val="98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rgbClr val="980000"/>
                </a:solidFill>
                <a:latin typeface="Courier New"/>
                <a:ea typeface="Courier New"/>
                <a:cs typeface="Courier New"/>
                <a:sym typeface="Courier New"/>
              </a:rPr>
              <a:t>station02_ph.csv</a:t>
            </a:r>
            <a:endParaRPr sz="1100" b="1">
              <a:solidFill>
                <a:srgbClr val="98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rgbClr val="980000"/>
                </a:solidFill>
                <a:latin typeface="Courier New"/>
                <a:ea typeface="Courier New"/>
                <a:cs typeface="Courier New"/>
                <a:sym typeface="Courier New"/>
              </a:rPr>
              <a:t>station02_temp.csv</a:t>
            </a:r>
            <a:endParaRPr sz="1100" b="1">
              <a:solidFill>
                <a:srgbClr val="98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rgbClr val="980000"/>
                </a:solidFill>
                <a:latin typeface="Courier New"/>
                <a:ea typeface="Courier New"/>
                <a:cs typeface="Courier New"/>
                <a:sym typeface="Courier New"/>
              </a:rPr>
              <a:t>station03_nitrate.csv</a:t>
            </a:r>
            <a:endParaRPr sz="1100" b="1">
              <a:solidFill>
                <a:srgbClr val="98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rgbClr val="980000"/>
                </a:solidFill>
                <a:latin typeface="Courier New"/>
                <a:ea typeface="Courier New"/>
                <a:cs typeface="Courier New"/>
                <a:sym typeface="Courier New"/>
              </a:rPr>
              <a:t>station03_ph.csv</a:t>
            </a:r>
            <a:endParaRPr sz="1100" b="1">
              <a:solidFill>
                <a:srgbClr val="98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rgbClr val="980000"/>
                </a:solidFill>
                <a:latin typeface="Courier New"/>
                <a:ea typeface="Courier New"/>
                <a:cs typeface="Courier New"/>
                <a:sym typeface="Courier New"/>
              </a:rPr>
              <a:t>station03_temp.csv</a:t>
            </a:r>
            <a:endParaRPr sz="1100" b="1">
              <a:solidFill>
                <a:srgbClr val="98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rgbClr val="980000"/>
                </a:solidFill>
                <a:latin typeface="Courier New"/>
                <a:ea typeface="Courier New"/>
                <a:cs typeface="Courier New"/>
                <a:sym typeface="Courier New"/>
              </a:rPr>
              <a:t>...</a:t>
            </a:r>
            <a:endParaRPr sz="1100" b="1">
              <a:solidFill>
                <a:srgbClr val="98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18" name="Google Shape;218;p24"/>
          <p:cNvSpPr txBox="1"/>
          <p:nvPr/>
        </p:nvSpPr>
        <p:spPr>
          <a:xfrm>
            <a:off x="6813020" y="2840952"/>
            <a:ext cx="2225100" cy="204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rgbClr val="274E13"/>
                </a:solidFill>
                <a:latin typeface="Courier New"/>
                <a:ea typeface="Courier New"/>
                <a:cs typeface="Courier New"/>
                <a:sym typeface="Courier New"/>
              </a:rPr>
              <a:t>temperature/</a:t>
            </a:r>
            <a:endParaRPr sz="1100" b="1">
              <a:solidFill>
                <a:srgbClr val="274E13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rgbClr val="274E13"/>
                </a:solidFill>
                <a:latin typeface="Courier New"/>
                <a:ea typeface="Courier New"/>
                <a:cs typeface="Courier New"/>
                <a:sym typeface="Courier New"/>
              </a:rPr>
              <a:t>   station01_temp.csv</a:t>
            </a:r>
            <a:endParaRPr sz="1100" b="1">
              <a:solidFill>
                <a:srgbClr val="274E13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rgbClr val="274E13"/>
                </a:solidFill>
                <a:latin typeface="Courier New"/>
                <a:ea typeface="Courier New"/>
                <a:cs typeface="Courier New"/>
                <a:sym typeface="Courier New"/>
              </a:rPr>
              <a:t>   station02_temp.csv</a:t>
            </a:r>
            <a:endParaRPr sz="1100" b="1">
              <a:solidFill>
                <a:srgbClr val="274E13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rgbClr val="274E13"/>
                </a:solidFill>
                <a:latin typeface="Courier New"/>
                <a:ea typeface="Courier New"/>
                <a:cs typeface="Courier New"/>
                <a:sym typeface="Courier New"/>
              </a:rPr>
              <a:t>   station03_temp.csv</a:t>
            </a:r>
            <a:endParaRPr sz="1100" b="1">
              <a:solidFill>
                <a:srgbClr val="274E13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rgbClr val="274E13"/>
                </a:solidFill>
                <a:latin typeface="Courier New"/>
                <a:ea typeface="Courier New"/>
                <a:cs typeface="Courier New"/>
                <a:sym typeface="Courier New"/>
              </a:rPr>
              <a:t>nitrate/</a:t>
            </a:r>
            <a:endParaRPr sz="1100" b="1">
              <a:solidFill>
                <a:srgbClr val="274E13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rgbClr val="274E13"/>
                </a:solidFill>
                <a:latin typeface="Courier New"/>
                <a:ea typeface="Courier New"/>
                <a:cs typeface="Courier New"/>
                <a:sym typeface="Courier New"/>
              </a:rPr>
              <a:t>   station01_nitrate.csv</a:t>
            </a:r>
            <a:endParaRPr sz="1100" b="1">
              <a:solidFill>
                <a:srgbClr val="274E13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rgbClr val="274E13"/>
                </a:solidFill>
                <a:latin typeface="Courier New"/>
                <a:ea typeface="Courier New"/>
                <a:cs typeface="Courier New"/>
                <a:sym typeface="Courier New"/>
              </a:rPr>
              <a:t>   station02_nitrate.csv</a:t>
            </a:r>
            <a:endParaRPr sz="1100" b="1">
              <a:solidFill>
                <a:srgbClr val="274E13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rgbClr val="274E13"/>
                </a:solidFill>
                <a:latin typeface="Courier New"/>
                <a:ea typeface="Courier New"/>
                <a:cs typeface="Courier New"/>
                <a:sym typeface="Courier New"/>
              </a:rPr>
              <a:t>   station03_nitrate.csv</a:t>
            </a:r>
            <a:endParaRPr sz="1100" b="1">
              <a:solidFill>
                <a:srgbClr val="274E13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rgbClr val="274E13"/>
                </a:solidFill>
                <a:latin typeface="Courier New"/>
                <a:ea typeface="Courier New"/>
                <a:cs typeface="Courier New"/>
                <a:sym typeface="Courier New"/>
              </a:rPr>
              <a:t>pH/</a:t>
            </a:r>
            <a:endParaRPr sz="1100" b="1">
              <a:solidFill>
                <a:srgbClr val="274E13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rgbClr val="274E13"/>
                </a:solidFill>
                <a:latin typeface="Courier New"/>
                <a:ea typeface="Courier New"/>
                <a:cs typeface="Courier New"/>
                <a:sym typeface="Courier New"/>
              </a:rPr>
              <a:t>   station01_ph.csv</a:t>
            </a:r>
            <a:endParaRPr sz="1100" b="1">
              <a:solidFill>
                <a:srgbClr val="274E13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rgbClr val="274E13"/>
                </a:solidFill>
                <a:latin typeface="Courier New"/>
                <a:ea typeface="Courier New"/>
                <a:cs typeface="Courier New"/>
                <a:sym typeface="Courier New"/>
              </a:rPr>
              <a:t>   station02_ph.csv</a:t>
            </a:r>
            <a:endParaRPr sz="1100" b="1">
              <a:solidFill>
                <a:srgbClr val="274E13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219" name="Google Shape;219;p24"/>
          <p:cNvCxnSpPr/>
          <p:nvPr/>
        </p:nvCxnSpPr>
        <p:spPr>
          <a:xfrm rot="10800000" flipH="1">
            <a:off x="6190104" y="3778900"/>
            <a:ext cx="497700" cy="18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16bdb044-e36e-4246-a754-a58e256dfd84" xsi:nil="true"/>
    <lcf76f155ced4ddcb4097134ff3c332f xmlns="fa06e469-a61e-4e11-a856-2c945857ac13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4E28B65B93D1746B6F965BF546CC104" ma:contentTypeVersion="19" ma:contentTypeDescription="Create a new document." ma:contentTypeScope="" ma:versionID="022b836ed83e6cb71dc354ae7560d6ff">
  <xsd:schema xmlns:xsd="http://www.w3.org/2001/XMLSchema" xmlns:xs="http://www.w3.org/2001/XMLSchema" xmlns:p="http://schemas.microsoft.com/office/2006/metadata/properties" xmlns:ns2="fa06e469-a61e-4e11-a856-2c945857ac13" xmlns:ns3="16bdb044-e36e-4246-a754-a58e256dfd84" targetNamespace="http://schemas.microsoft.com/office/2006/metadata/properties" ma:root="true" ma:fieldsID="8a6733636627fba554722a90a2a5b44e" ns2:_="" ns3:_="">
    <xsd:import namespace="fa06e469-a61e-4e11-a856-2c945857ac13"/>
    <xsd:import namespace="16bdb044-e36e-4246-a754-a58e256dfd8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LengthInSecond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a06e469-a61e-4e11-a856-2c945857ac1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ed5fd80e-6670-4b14-b14b-2cba34741ac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bdb044-e36e-4246-a754-a58e256dfd84" elementFormDefault="qualified">
    <xsd:import namespace="http://schemas.microsoft.com/office/2006/documentManagement/types"/>
    <xsd:import namespace="http://schemas.microsoft.com/office/infopath/2007/PartnerControls"/>
    <xsd:element name="SharedWithUsers" ma:index="1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8d5c8883-efd4-4052-89d0-b7318a3b5a6d}" ma:internalName="TaxCatchAll" ma:showField="CatchAllData" ma:web="16bdb044-e36e-4246-a754-a58e256dfd8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9DA28E0-CAB8-429D-A7EA-2C8256940C3B}">
  <ds:schemaRefs>
    <ds:schemaRef ds:uri="http://schemas.microsoft.com/office/2006/metadata/properties"/>
    <ds:schemaRef ds:uri="http://schemas.microsoft.com/office/infopath/2007/PartnerControls"/>
    <ds:schemaRef ds:uri="16bdb044-e36e-4246-a754-a58e256dfd84"/>
    <ds:schemaRef ds:uri="fa06e469-a61e-4e11-a856-2c945857ac13"/>
  </ds:schemaRefs>
</ds:datastoreItem>
</file>

<file path=customXml/itemProps2.xml><?xml version="1.0" encoding="utf-8"?>
<ds:datastoreItem xmlns:ds="http://schemas.openxmlformats.org/officeDocument/2006/customXml" ds:itemID="{4CB0C99F-10BB-4EF6-9DC8-BA5817586ED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6372744-A096-455B-9E33-86ED749BF56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a06e469-a61e-4e11-a856-2c945857ac13"/>
    <ds:schemaRef ds:uri="16bdb044-e36e-4246-a754-a58e256dfd8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1340</Words>
  <Application>Microsoft Office PowerPoint</Application>
  <PresentationFormat>On-screen Show (16:9)</PresentationFormat>
  <Paragraphs>157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Arial</vt:lpstr>
      <vt:lpstr>Lato</vt:lpstr>
      <vt:lpstr>Calibri</vt:lpstr>
      <vt:lpstr>Lato Black</vt:lpstr>
      <vt:lpstr>Consolas</vt:lpstr>
      <vt:lpstr>Courier New</vt:lpstr>
      <vt:lpstr>Simple Light</vt:lpstr>
      <vt:lpstr>Session 1 · Module 1 Data best practices</vt:lpstr>
      <vt:lpstr>PowerPoint Presentation</vt:lpstr>
      <vt:lpstr>PowerPoint Presentation</vt:lpstr>
      <vt:lpstr>Some good practices for sharing reusable code </vt:lpstr>
      <vt:lpstr>PowerPoint Presentation</vt:lpstr>
      <vt:lpstr>Computational science is hard to make truly reusable</vt:lpstr>
      <vt:lpstr>A couple primer questions!  Does your research group have existing best practices for reusability of data analysis workflows?</vt:lpstr>
      <vt:lpstr>Meet NASA SWOT</vt:lpstr>
      <vt:lpstr>Activity 1  Upload a file or folder to your HydroShare resource. Choose something smallish for now. You can always delete and rename this later after we get through the organizational best practices. </vt:lpstr>
      <vt:lpstr>Live coding: find SWOT data     Run the sections "Find datasets" to "Find RiverSP granules over the Ohio at Louisville".</vt:lpstr>
      <vt:lpstr>Find datasets</vt:lpstr>
      <vt:lpstr>Organizing files and folders for reuse</vt:lpstr>
      <vt:lpstr>Any final questions for today?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Lindsay Platt</cp:lastModifiedBy>
  <cp:revision>3</cp:revision>
  <dcterms:modified xsi:type="dcterms:W3CDTF">2026-10-28T15:38:49Z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0x010100F4E28B65B93D1746B6F965BF546CC104</vt:lpwstr>
  </property>
</Properties>
</file>